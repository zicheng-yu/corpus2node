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229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corpus</a:t>
            </a:r>
            <a:pPr indent="0" marL="0">
              <a:buNone/>
            </a:pPr>
            <a:r>
              <a:rPr lang="en-US" sz="4000" b="1" dirty="0">
                <a:solidFill>
                  <a:srgbClr val="BC6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</a:t>
            </a:r>
            <a:pPr indent="0" marL="0">
              <a:buNone/>
            </a:pPr>
            <a:r>
              <a:rPr lang="en-US" sz="40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node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481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KNOWLEDGE GRAPH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2377440"/>
            <a:ext cx="5577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把任意资料，变成一个</a:t>
            </a:r>
            <a:endParaRPr lang="en-US" sz="3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可探索、可溯源的知识库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43434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问答有出处 · 笔记试卷一键生成 · 跨库自动产出创新提案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云端可用，全本地也行 —— 数据不出内网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4114800"/>
            <a:ext cx="1005840" cy="0"/>
          </a:xfrm>
          <a:prstGeom prst="line">
            <a:avLst/>
          </a:prstGeom>
          <a:noFill/>
          <a:ln w="31750">
            <a:solidFill>
              <a:srgbClr val="BC6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36792" y="1679067"/>
            <a:ext cx="5522976" cy="3499866"/>
          </a:xfrm>
          <a:prstGeom prst="roundRect">
            <a:avLst>
              <a:gd name="adj" fmla="val 1568"/>
            </a:avLst>
          </a:prstGeom>
          <a:solidFill>
            <a:srgbClr val="FFFFFF"/>
          </a:solidFill>
          <a:ln w="12700">
            <a:solidFill>
              <a:srgbClr val="DDD5CA"/>
            </a:solidFill>
            <a:prstDash val="solid"/>
          </a:ln>
        </p:spPr>
      </p:sp>
      <p:pic>
        <p:nvPicPr>
          <p:cNvPr id="8" name="Image 0" descr="02-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43075"/>
            <a:ext cx="5394960" cy="33718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0" y="61722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真实截图：一份 100 页讲义 PDF 自动构建的知识图谱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corpus</a:t>
            </a:r>
            <a:pPr algn="l" indent="0" marL="0">
              <a:buNone/>
            </a:pPr>
            <a:r>
              <a:rPr lang="en-US" sz="1100" b="1" dirty="0">
                <a:solidFill>
                  <a:srgbClr val="BC6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</a:t>
            </a:r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node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WHY · 三个老问题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55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资料越来越多，认知却没有变快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602736" cy="3566160"/>
          </a:xfrm>
          <a:prstGeom prst="roundRect">
            <a:avLst>
              <a:gd name="adj" fmla="val 2051"/>
            </a:avLst>
          </a:prstGeom>
          <a:solidFill>
            <a:srgbClr val="F3EDE3"/>
          </a:solidFill>
          <a:ln w="12700">
            <a:solidFill>
              <a:srgbClr val="DDD5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606040"/>
            <a:ext cx="457200" cy="0"/>
          </a:xfrm>
          <a:prstGeom prst="line">
            <a:avLst/>
          </a:prstGeom>
          <a:noFill/>
          <a:ln w="31750">
            <a:solidFill>
              <a:srgbClr val="BC6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01168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资料散，读不完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86384" y="2788920"/>
            <a:ext cx="312724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文档、课件、录音、图片散落各处。新人 onboarding、老板看汇报，都要靠人肉通读。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70832" y="1737360"/>
            <a:ext cx="3602736" cy="3566160"/>
          </a:xfrm>
          <a:prstGeom prst="roundRect">
            <a:avLst>
              <a:gd name="adj" fmla="val 2051"/>
            </a:avLst>
          </a:prstGeom>
          <a:solidFill>
            <a:srgbClr val="F3EDE3"/>
          </a:solidFill>
          <a:ln w="12700">
            <a:solidFill>
              <a:srgbClr val="DDD5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2606040"/>
            <a:ext cx="457200" cy="0"/>
          </a:xfrm>
          <a:prstGeom prst="line">
            <a:avLst/>
          </a:prstGeom>
          <a:noFill/>
          <a:ln w="31750">
            <a:solidFill>
              <a:srgbClr val="BC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201168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黑箱 AI，不敢信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08576" y="2788920"/>
            <a:ext cx="312724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 RAG 给出的答案无法核对来源，重要场合（汇报 / 审计 / 教学）不敢直接引用。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93024" y="1737360"/>
            <a:ext cx="3602736" cy="3566160"/>
          </a:xfrm>
          <a:prstGeom prst="roundRect">
            <a:avLst>
              <a:gd name="adj" fmla="val 2051"/>
            </a:avLst>
          </a:prstGeom>
          <a:solidFill>
            <a:srgbClr val="F3EDE3"/>
          </a:solidFill>
          <a:ln w="12700">
            <a:solidFill>
              <a:srgbClr val="DDD5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7344" y="2606040"/>
            <a:ext cx="457200" cy="0"/>
          </a:xfrm>
          <a:prstGeom prst="line">
            <a:avLst/>
          </a:prstGeom>
          <a:noFill/>
          <a:ln w="31750">
            <a:solidFill>
              <a:srgbClr val="BC6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201168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数据敏感，不敢上云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30768" y="2788920"/>
            <a:ext cx="3127248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内部资料受合规约束，接第三方大模型 API 意味着资料要离开内网。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D552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Corpus2Node 用一张「知识图谱」同时回答这三个问题。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corpus</a:t>
            </a:r>
            <a:pPr algn="l" indent="0" marL="0">
              <a:buNone/>
            </a:pPr>
            <a:r>
              <a:rPr lang="en-US" sz="1100" b="1" dirty="0">
                <a:solidFill>
                  <a:srgbClr val="BC6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</a:t>
            </a:r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node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WHAT · 一条流水线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55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资料进来，认知资产出去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3EDE3"/>
          </a:solidFill>
          <a:ln w="12700">
            <a:solidFill>
              <a:srgbClr val="DD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任意资料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Word / PPT / Markdown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PDF（含扫描 OCR）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图片（板书 / 白板照片）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音频（会议 / 课程录音）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视频（讲座 / 网课）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10128" y="3063240"/>
            <a:ext cx="777240" cy="457200"/>
          </a:xfrm>
          <a:prstGeom prst="rightArrow">
            <a:avLst/>
          </a:prstGeom>
          <a:solidFill>
            <a:srgbClr val="BC6A3A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0" y="224028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BC6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D552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知识图谱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343400" y="31089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概念 · 关系 · 主题社区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自动质检，重要度排序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每个概念都锚定原文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16368" y="3063240"/>
            <a:ext cx="777240" cy="457200"/>
          </a:xfrm>
          <a:prstGeom prst="rightArrow">
            <a:avLst/>
          </a:prstGeom>
          <a:solidFill>
            <a:srgbClr val="BC6A3A"/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1783080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F3EDE3"/>
          </a:solidFill>
          <a:ln w="12700">
            <a:solidFill>
              <a:srgbClr val="DDD5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185623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问答溯源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0" y="22128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每句回答带原文出处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03920" y="2752344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F3EDE3"/>
          </a:solidFill>
          <a:ln w="12700">
            <a:solidFill>
              <a:srgbClr val="DDD5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82549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结构化笔记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31821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按主题分节，可导出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503920" y="3721608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F3EDE3"/>
          </a:solidFill>
          <a:ln w="12700">
            <a:solidFill>
              <a:srgbClr val="DDD5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379476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自测试卷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0" y="41513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答案经独立验证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03920" y="4690872"/>
            <a:ext cx="3108960" cy="822960"/>
          </a:xfrm>
          <a:prstGeom prst="roundRect">
            <a:avLst>
              <a:gd name="adj" fmla="val 8889"/>
            </a:avLst>
          </a:prstGeom>
          <a:solidFill>
            <a:srgbClr val="F3EDE3"/>
          </a:solidFill>
          <a:ln w="12700">
            <a:solidFill>
              <a:srgbClr val="DDD5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476402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创新提案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0" y="5120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跨库组合机会 + 证据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离线构建一次，在线随时追问 —— 所有能力共用同一张图谱。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corpus</a:t>
            </a:r>
            <a:pPr algn="l" indent="0" marL="0">
              <a:buNone/>
            </a:pPr>
            <a:r>
              <a:rPr lang="en-US" sz="1100" b="1" dirty="0">
                <a:solidFill>
                  <a:srgbClr val="BC6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</a:t>
            </a:r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node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 01 · 建图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55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100 页 PDF → 87 个知识点、819 条关系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370832" y="1577340"/>
            <a:ext cx="7443216" cy="4700016"/>
          </a:xfrm>
          <a:prstGeom prst="roundRect">
            <a:avLst>
              <a:gd name="adj" fmla="val 1167"/>
            </a:avLst>
          </a:prstGeom>
          <a:solidFill>
            <a:srgbClr val="FFFFFF"/>
          </a:solidFill>
          <a:ln w="12700">
            <a:solidFill>
              <a:srgbClr val="DDD5CA"/>
            </a:solidFill>
            <a:prstDash val="solid"/>
          </a:ln>
        </p:spPr>
      </p:sp>
      <p:pic>
        <p:nvPicPr>
          <p:cNvPr id="7" name="Image 0" descr="02-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641348"/>
            <a:ext cx="7315200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91640"/>
            <a:ext cx="3749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自动抽取概念与关系，语义合并中英别名（可变对象 = mutable object）</a:t>
            </a:r>
            <a:endParaRPr lang="en-US" sz="1450" dirty="0"/>
          </a:p>
          <a:p>
            <a:pPr algn="l"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个主题社区自动着色，节点大小 = 图算法计算的重要度</a:t>
            </a:r>
            <a:endParaRPr lang="en-US" sz="1450" dirty="0"/>
          </a:p>
          <a:p>
            <a:pPr algn="l"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内置质检环节：无依据的概念与关系在入图前被剔除</a:t>
            </a:r>
            <a:endParaRPr lang="en-US" sz="1450" dirty="0"/>
          </a:p>
          <a:p>
            <a:pPr algn="l"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左栏即「考点表」：按重要度排序的知识点清单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corpus</a:t>
            </a:r>
            <a:pPr algn="l" indent="0" marL="0">
              <a:buNone/>
            </a:pPr>
            <a:r>
              <a:rPr lang="en-US" sz="1100" b="1" dirty="0">
                <a:solidFill>
                  <a:srgbClr val="BC6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</a:t>
            </a:r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node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 02 · 探索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55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每个知识点，都是一张可追问的卡片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370832" y="1577340"/>
            <a:ext cx="7443216" cy="4700016"/>
          </a:xfrm>
          <a:prstGeom prst="roundRect">
            <a:avLst>
              <a:gd name="adj" fmla="val 1167"/>
            </a:avLst>
          </a:prstGeom>
          <a:solidFill>
            <a:srgbClr val="FFFFFF"/>
          </a:solidFill>
          <a:ln w="12700">
            <a:solidFill>
              <a:srgbClr val="DDD5CA"/>
            </a:solidFill>
            <a:prstDash val="solid"/>
          </a:ln>
        </p:spPr>
      </p:sp>
      <p:pic>
        <p:nvPicPr>
          <p:cNvPr id="7" name="Image 0" descr="03-node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641348"/>
            <a:ext cx="7315200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91640"/>
            <a:ext cx="3749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 / 概念摘要 / 关键要点 / 应用场景，全部来自你的资料</a:t>
            </a:r>
            <a:endParaRPr lang="en-US" sz="1450" dirty="0"/>
          </a:p>
          <a:p>
            <a:pPr algn="l"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51 条关联关系带类型：前置、导致、共现……顺着边走就是学习路径</a:t>
            </a:r>
            <a:endParaRPr lang="en-US" sz="1450" dirty="0"/>
          </a:p>
          <a:p>
            <a:pPr algn="l"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「询问这个知识点」一键把图谱选中项带进对话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corpus</a:t>
            </a:r>
            <a:pPr algn="l" indent="0" marL="0">
              <a:buNone/>
            </a:pPr>
            <a:r>
              <a:rPr lang="en-US" sz="1100" b="1" dirty="0">
                <a:solidFill>
                  <a:srgbClr val="BC6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</a:t>
            </a:r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node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 03 · 问答（招牌）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55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每一句回答，都能点开看出处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445871" y="1353312"/>
            <a:ext cx="2630698" cy="5157216"/>
          </a:xfrm>
          <a:prstGeom prst="roundRect">
            <a:avLst>
              <a:gd name="adj" fmla="val 2086"/>
            </a:avLst>
          </a:prstGeom>
          <a:solidFill>
            <a:srgbClr val="FFFFFF"/>
          </a:solidFill>
          <a:ln w="12700">
            <a:solidFill>
              <a:srgbClr val="DDD5CA"/>
            </a:solidFill>
            <a:prstDash val="solid"/>
          </a:ln>
        </p:spPr>
      </p:sp>
      <p:pic>
        <p:nvPicPr>
          <p:cNvPr id="7" name="Image 0" descr="04-chat-c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879" y="1417320"/>
            <a:ext cx="2502682" cy="5029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91640"/>
            <a:ext cx="69494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回答内嵌 [17][31] 引用编号，句句可核对</a:t>
            </a:r>
            <a:endParaRPr lang="en-US" sz="1500" dirty="0"/>
          </a:p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引用列表直达原文片段：概念卡或 PDF 段落，点击跳转高亮</a:t>
            </a:r>
            <a:endParaRPr lang="en-US" sz="1500" dirty="0"/>
          </a:p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只基于你的资料作答；资料没讲的，明确说「没讲」，不编造</a:t>
            </a:r>
            <a:endParaRPr lang="en-US" sz="1500" dirty="0"/>
          </a:p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复杂问题自动整理成对比表 / 要点清单</a:t>
            </a:r>
            <a:endParaRPr lang="en-US" sz="1500" dirty="0"/>
          </a:p>
          <a:p>
            <a:pPr algn="l" indent="0" marL="0">
              <a:lnSpc>
                <a:spcPct val="112000"/>
              </a:lnSpc>
              <a:spcAft>
                <a:spcPts val="600"/>
              </a:spcAft>
              <a:buNone/>
            </a:pPr>
            <a:endParaRPr lang="en-US" sz="1500" dirty="0"/>
          </a:p>
          <a:p>
            <a:pPr algn="l" marL="177800" indent="-177800">
              <a:lnSpc>
                <a:spcPct val="112000"/>
              </a:lnSpc>
              <a:buSzPct val="100000"/>
              <a:buChar char="•"/>
            </a:pPr>
            <a:r>
              <a:rPr lang="en-US" sz="15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与黑箱 RAG 的本质区别：答案 → 图谱节点 → 原文 chunk，三级可追溯。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corpus</a:t>
            </a:r>
            <a:pPr algn="l" indent="0" marL="0">
              <a:buNone/>
            </a:pPr>
            <a:r>
              <a:rPr lang="en-US" sz="1100" b="1" dirty="0">
                <a:solidFill>
                  <a:srgbClr val="BC6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</a:t>
            </a:r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node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 04 · 沉淀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55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一键生成结构化笔记与自测试卷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928150" y="1472184"/>
            <a:ext cx="2384981" cy="4663440"/>
          </a:xfrm>
          <a:prstGeom prst="roundRect">
            <a:avLst>
              <a:gd name="adj" fmla="val 2300"/>
            </a:avLst>
          </a:prstGeom>
          <a:solidFill>
            <a:srgbClr val="FFFFFF"/>
          </a:solidFill>
          <a:ln w="12700">
            <a:solidFill>
              <a:srgbClr val="DDD5CA"/>
            </a:solidFill>
            <a:prstDash val="solid"/>
          </a:ln>
        </p:spPr>
      </p:sp>
      <p:pic>
        <p:nvPicPr>
          <p:cNvPr id="7" name="Image 0" descr="05-no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2158" y="1536192"/>
            <a:ext cx="2256965" cy="45354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45870" y="1472184"/>
            <a:ext cx="2384981" cy="4663440"/>
          </a:xfrm>
          <a:prstGeom prst="roundRect">
            <a:avLst>
              <a:gd name="adj" fmla="val 2300"/>
            </a:avLst>
          </a:prstGeom>
          <a:solidFill>
            <a:srgbClr val="FFFFFF"/>
          </a:solidFill>
          <a:ln w="12700">
            <a:solidFill>
              <a:srgbClr val="DDD5CA"/>
            </a:solidFill>
            <a:prstDash val="solid"/>
          </a:ln>
        </p:spPr>
      </p:sp>
      <p:pic>
        <p:nvPicPr>
          <p:cNvPr id="9" name="Image 1" descr="06-ex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878" y="1536192"/>
            <a:ext cx="2256965" cy="45354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27248" y="6144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结构化笔记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744968" y="61447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自测试卷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1783080"/>
            <a:ext cx="2514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笔记按主题社区分 7 节，覆盖全部核心概念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可导出 Markdown / PDF / LaTeX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试卷 6 题覆盖 18 个知识点，题型可配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每题标注所考知识点；答案由独立求解器背靠资料验证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corpus</a:t>
            </a:r>
            <a:pPr algn="l" indent="0" marL="0">
              <a:buNone/>
            </a:pPr>
            <a:r>
              <a:rPr lang="en-US" sz="1100" b="1" dirty="0">
                <a:solidFill>
                  <a:srgbClr val="BC6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</a:t>
            </a:r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node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 05 · 知识发现（压轴）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55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各部门交完汇报，AI 替老板想创新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370832" y="1577340"/>
            <a:ext cx="7443216" cy="4700016"/>
          </a:xfrm>
          <a:prstGeom prst="roundRect">
            <a:avLst>
              <a:gd name="adj" fmla="val 1167"/>
            </a:avLst>
          </a:prstGeom>
          <a:solidFill>
            <a:srgbClr val="FFFFFF"/>
          </a:solidFill>
          <a:ln w="12700">
            <a:solidFill>
              <a:srgbClr val="DDD5CA"/>
            </a:solidFill>
            <a:prstDash val="solid"/>
          </a:ln>
        </p:spPr>
      </p:sp>
      <p:pic>
        <p:nvPicPr>
          <p:cNvPr id="7" name="Image 0" descr="09-discovery-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1641348"/>
            <a:ext cx="7315200" cy="4572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91640"/>
            <a:ext cx="37490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勾选几个库 + 一句意图，例：「找可结合两篇论文方法的新方向」</a:t>
            </a:r>
            <a:endParaRPr lang="en-US" sz="1400" dirty="0"/>
          </a:p>
          <a:p>
            <a:pPr algn="l"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系统先找跨库知识桥接点，再合成可执行的创新提案</a:t>
            </a:r>
            <a:endParaRPr lang="en-US" sz="1400" dirty="0"/>
          </a:p>
          <a:p>
            <a:pPr algn="l"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呈现为「部门 → 桥接概念 → 提案」一张图，点提案直达卡片</a:t>
            </a:r>
            <a:endParaRPr lang="en-US" sz="14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endParaRPr lang="en-US" sz="1400" dirty="0"/>
          </a:p>
          <a:p>
            <a:pPr algn="l"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右图真实输出：两篇强化学习论文（VDN × QMIX）产出 4 条提案。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corpus</a:t>
            </a:r>
            <a:pPr algn="l" indent="0" marL="0">
              <a:buNone/>
            </a:pPr>
            <a:r>
              <a:rPr lang="en-US" sz="1100" b="1" dirty="0">
                <a:solidFill>
                  <a:srgbClr val="BC6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</a:t>
            </a:r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node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 05 · 知识发现（续）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55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可拍板的提案卡：采纳、搁置、深挖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319272" y="1770171"/>
            <a:ext cx="8403336" cy="4314354"/>
          </a:xfrm>
          <a:prstGeom prst="roundRect">
            <a:avLst>
              <a:gd name="adj" fmla="val 1272"/>
            </a:avLst>
          </a:prstGeom>
          <a:solidFill>
            <a:srgbClr val="FFFFFF"/>
          </a:solidFill>
          <a:ln w="12700">
            <a:solidFill>
              <a:srgbClr val="DDD5CA"/>
            </a:solidFill>
            <a:prstDash val="solid"/>
          </a:ln>
        </p:spPr>
      </p:sp>
      <p:pic>
        <p:nvPicPr>
          <p:cNvPr id="7" name="Image 0" descr="08-proposal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834179"/>
            <a:ext cx="8275320" cy="41863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1783080"/>
            <a:ext cx="2788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每条提案：一句话价值 / 组合方式 / 最小第一步 / 风险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强制引用两边资料的真实概念与原文证据，引用不实即丢弃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采纳 / 搁置会被记住，下次发现不重复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「深挖」30 秒展开为目标 / 做法 / 资源 / 首个实验 / 指标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corpus</a:t>
            </a:r>
            <a:pPr algn="l" indent="0" marL="0">
              <a:buNone/>
            </a:pPr>
            <a:r>
              <a:rPr lang="en-US" sz="1100" b="1" dirty="0">
                <a:solidFill>
                  <a:srgbClr val="BC6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</a:t>
            </a:r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node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部署 · 全本地私有化（招牌）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55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数据不出内网，全流程照跑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062472" y="1974533"/>
            <a:ext cx="5660136" cy="3585591"/>
          </a:xfrm>
          <a:prstGeom prst="roundRect">
            <a:avLst>
              <a:gd name="adj" fmla="val 1530"/>
            </a:avLst>
          </a:prstGeom>
          <a:solidFill>
            <a:srgbClr val="FFFFFF"/>
          </a:solidFill>
          <a:ln w="12700">
            <a:solidFill>
              <a:srgbClr val="DDD5CA"/>
            </a:solidFill>
            <a:prstDash val="solid"/>
          </a:ln>
        </p:spPr>
      </p:sp>
      <p:pic>
        <p:nvPicPr>
          <p:cNvPr id="7" name="Image 0" descr="10-settings-lo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038541"/>
            <a:ext cx="5532120" cy="34575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91640"/>
            <a:ext cx="5257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模型即插即用：云端（DeepSeek / Kimi / 任意兼容端点）与本地（Ollama / LM Studio）并存，按用途独立绑定</a:t>
            </a:r>
            <a:endParaRPr lang="en-US" sz="1400" dirty="0"/>
          </a:p>
          <a:p>
            <a:pPr algn="l"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本地凭据免密钥，「读取模型」一键列出本机模型</a:t>
            </a:r>
            <a:endParaRPr lang="en-US" sz="1400" dirty="0"/>
          </a:p>
          <a:p>
            <a:pPr algn="l"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b="1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已在一台 MacBook（M3）上离线实测跑通全流程：建图 / 问答 / 出卷 / 知识发现，零云端调用</a:t>
            </a:r>
            <a:endParaRPr lang="en-US" sz="1400" dirty="0"/>
          </a:p>
          <a:p>
            <a:pPr algn="l" marL="177800" indent="-177800">
              <a:lnSpc>
                <a:spcPct val="112000"/>
              </a:lnSpc>
              <a:spcAft>
                <a:spcPts val="1300"/>
              </a:spcAft>
              <a:buSzPct val="100000"/>
              <a:buChar char="•"/>
            </a:pPr>
            <a:r>
              <a:rPr lang="en-US" sz="140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生产三档（全开源权重）：单卡 24GB 起步 → 单模型全包（Qwen3-VL-32B）→ 旗舰集群</a:t>
            </a:r>
            <a:endParaRPr lang="en-US" sz="1400" dirty="0"/>
          </a:p>
          <a:p>
            <a:pPr algn="l" indent="0" marL="0">
              <a:lnSpc>
                <a:spcPct val="112000"/>
              </a:lnSpc>
              <a:spcAft>
                <a:spcPts val="400"/>
              </a:spcAft>
              <a:buNone/>
            </a:pPr>
            <a:endParaRPr lang="en-US" sz="1400" dirty="0"/>
          </a:p>
          <a:p>
            <a:pPr algn="l" marL="177800" indent="-1778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合规团队最关心的问题，答案是：资料一个字节都不出内网。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corpus</a:t>
            </a:r>
            <a:pPr algn="l" indent="0" marL="0">
              <a:buNone/>
            </a:pPr>
            <a:r>
              <a:rPr lang="en-US" sz="1100" b="1" dirty="0">
                <a:solidFill>
                  <a:srgbClr val="BC6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2</a:t>
            </a:r>
            <a:pPr algn="l" indent="0" marL="0">
              <a:buNone/>
            </a:pPr>
            <a:r>
              <a:rPr lang="en-US" sz="1100" b="1" dirty="0">
                <a:solidFill>
                  <a:srgbClr val="2B2621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node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6A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WHY US · 三个差异化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21208" y="713232"/>
            <a:ext cx="11155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可溯源 · 全模态 · 全本地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602736" cy="2377440"/>
          </a:xfrm>
          <a:prstGeom prst="roundRect">
            <a:avLst>
              <a:gd name="adj" fmla="val 3077"/>
            </a:avLst>
          </a:prstGeom>
          <a:solidFill>
            <a:srgbClr val="F3EDE3"/>
          </a:solidFill>
          <a:ln w="12700">
            <a:solidFill>
              <a:srgbClr val="DD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911096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9D552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可溯源可解释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86384" y="246888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答案 → 图谱节点 → 原文段落三级追溯；试卷答案经独立验证；创新提案带证据。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691640"/>
            <a:ext cx="3602736" cy="2377440"/>
          </a:xfrm>
          <a:prstGeom prst="roundRect">
            <a:avLst>
              <a:gd name="adj" fmla="val 3077"/>
            </a:avLst>
          </a:prstGeom>
          <a:solidFill>
            <a:srgbClr val="F3EDE3"/>
          </a:solidFill>
          <a:ln w="12700">
            <a:solidFill>
              <a:srgbClr val="DDD5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911096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9D552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全模态一条流水线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608576" y="246888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 / PDF / 图片 / 音频 / 视频统一摄入，同一张图谱同一套能力。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1691640"/>
            <a:ext cx="3602736" cy="2377440"/>
          </a:xfrm>
          <a:prstGeom prst="roundRect">
            <a:avLst>
              <a:gd name="adj" fmla="val 3077"/>
            </a:avLst>
          </a:prstGeom>
          <a:solidFill>
            <a:srgbClr val="F3EDE3"/>
          </a:solidFill>
          <a:ln w="12700">
            <a:solidFill>
              <a:srgbClr val="DDD5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1911096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9D552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全本地可私有化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430768" y="246888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2B26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笔记本能跑通全流程；生产用开源模型自托管，三档配置随预算伸缩。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C6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11+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8640" y="496519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支持的资料格式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55848" y="44348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C6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87 / 819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355848" y="496519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单份讲义抽出的概念 / 关系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63056" y="44348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C6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4 条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63056" y="496519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两篇论文自动产出的创新提案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70264" y="443484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C6A3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100%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970264" y="496519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1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可离线运行的功能占比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24528"/>
            <a:ext cx="11091672" cy="0"/>
          </a:xfrm>
          <a:prstGeom prst="line">
            <a:avLst/>
          </a:prstGeom>
          <a:noFill/>
          <a:ln w="12700">
            <a:solidFill>
              <a:srgbClr val="DDD5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815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资料进来，是一张可追问的知识网络；出去，是笔记、试卷和带证据的创新提案。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2026-07-06T13:03:00Z</dcterms:created>
  <dcterms:modified xsi:type="dcterms:W3CDTF">2026-07-06T13:03:00Z</dcterms:modified>
</cp:coreProperties>
</file>